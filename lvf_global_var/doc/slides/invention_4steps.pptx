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4단계 전체 흐름. Step 1~2는 모델 생성, Step 3은 변동량 공급, Step 4는 결합.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상세. 기존 LVF 용도와 재사용 경로의 대비.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상세. contributing_devices : all 의 한계와 복원식, 정합성 조건.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상세. 경계 TR 한정 종래 방식과의 대비.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상세. 통합식, 변동 원인별 Δp 공급원, 검증 수치.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9260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3864"/>
                </a:solidFill>
                <a:latin typeface="Malgun Gothic"/>
                <a:ea typeface="Malgun Gothic"/>
              </a:rPr>
              <a:t>LVF 민감도로 각 TR의 global variation을 예측한다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4980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algun Gothic"/>
                <a:ea typeface="Malgun Gothic"/>
              </a:rPr>
              <a:t>국부 변동 σ 산출에 쓴 TR별 민감도를 재사용하여 각 TR이 global variation에서 차지하는 몫을 구하고, 이를 LLE와 aging 등 TR마다 변동량이 다른 경우의 보정에 활용한다.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" y="1207008"/>
            <a:ext cx="2514600" cy="7315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Malgun Gothic"/>
                <a:ea typeface="Malgun Gothic"/>
              </a:rPr>
              <a:t>STEP 1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algun Gothic"/>
                <a:ea typeface="Malgun Gothic"/>
              </a:rPr>
              <a:t>TR별 기여도 생성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" y="19385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입력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LVF 특성화의 TR별 섭동 민감도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S1(i, q)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2852928"/>
            <a:ext cx="251460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처리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C(i) = |S1(i)| / Σ_j |S1(j)|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37673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출력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기여도 표면  C(i ; slew, load)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Σ_i C(i) = 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35808" y="3310128"/>
            <a:ext cx="329184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392424" y="1207008"/>
            <a:ext cx="2514600" cy="7315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Malgun Gothic"/>
                <a:ea typeface="Malgun Gothic"/>
              </a:rPr>
              <a:t>STEP 2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algun Gothic"/>
                <a:ea typeface="Malgun Gothic"/>
              </a:rPr>
              <a:t>TR별 global variation 예측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92424" y="19385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입력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USM의 집합 global 변화량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S_agg(p)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92424" y="2852928"/>
            <a:ext cx="251460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처리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S(i, p) = C(i) · S_agg(p)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2424" y="37673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출력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각 TR이 차지하는 몫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TR별 민감도 확보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34456" y="3310128"/>
            <a:ext cx="329184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291072" y="1207008"/>
            <a:ext cx="2514600" cy="7315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Malgun Gothic"/>
                <a:ea typeface="Malgun Gothic"/>
              </a:rPr>
              <a:t>STEP 3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algun Gothic"/>
                <a:ea typeface="Malgun Gothic"/>
              </a:rPr>
              <a:t>내부 TR 변동량 확보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19385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입력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LLE DM 레이아웃 추출 결과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(경계 TR + 내부 TR)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1072" y="2852928"/>
            <a:ext cx="251460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처리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TR 위치별 Δp(i) 산출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37673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출력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인스턴스·TR별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ΔVth(i), ΔU0(i)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33103" y="3310128"/>
            <a:ext cx="329185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9189720" y="1207008"/>
            <a:ext cx="2514600" cy="7315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Malgun Gothic"/>
                <a:ea typeface="Malgun Gothic"/>
              </a:rPr>
              <a:t>STEP 4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algun Gothic"/>
                <a:ea typeface="Malgun Gothic"/>
              </a:rPr>
              <a:t>USM + LLE 통합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9385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입력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C(i),  S_agg(p),  Δp(i, p)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20" y="2852928"/>
            <a:ext cx="251460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처리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ΔD = Σ_i Σ_p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C(i)·S_agg(p)·Δp(i,p)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0" y="37673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출력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LLE, aging 등을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개별 TR charac 없이 처리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6" y="4956048"/>
            <a:ext cx="11210544" cy="1005840"/>
          </a:xfrm>
          <a:prstGeom prst="rect">
            <a:avLst/>
          </a:prstGeom>
          <a:solidFill>
            <a:srgbClr val="E4EA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>
            <a:no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F3864"/>
                </a:solidFill>
                <a:latin typeface="Consolas"/>
                <a:ea typeface="Malgun Gothic"/>
              </a:rPr>
              <a:t>결합 결과      ΔD_arc = Σ_i Σ_p  C(i ; s,l) · S_agg(p ; s,l) · Δp(i, p)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Malgun Gothic"/>
                <a:ea typeface="Malgun Gothic"/>
              </a:rPr>
              <a:t>global variation은 모든 TR에 같은 Δp를 준다. TR별 몫을 알면 TR마다 Δp가 다른 LLE와 aging으로 그대로 확장된다.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" y="6163056"/>
            <a:ext cx="1121054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95959"/>
                </a:solidFill>
                <a:latin typeface="Malgun Gothic"/>
                <a:ea typeface="Malgun Gothic"/>
              </a:rPr>
              <a:t>종래: 경계 TR을 트랜지스터별로 직접 특성화. 비용이 셀당 TR 수 × 파라미터 수 × 테이블 포인트 수에 비례한다.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9260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3864"/>
                </a:solidFill>
                <a:latin typeface="Malgun Gothic"/>
                <a:ea typeface="Malgun Gothic"/>
              </a:rPr>
              <a:t>LVF 특성화 결과에 TR별 민감도가 이미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4980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algun Gothic"/>
                <a:ea typeface="Malgun Gothic"/>
              </a:rPr>
              <a:t>국부 변동 σ 산출에 사용한 S1(i, q)을 정규화만 하면 기여도가 된다. 추가 시뮬레이션은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" y="1207008"/>
            <a:ext cx="5413248" cy="38404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</a:rPr>
              <a:t>기존 용도 — 국부 변동 통계량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" y="1591056"/>
            <a:ext cx="5413248" cy="1810512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TR별 ±δ 섭동으로 중앙 차분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62626"/>
                </a:solidFill>
                <a:latin typeface="Consolas"/>
                <a:ea typeface="Malgun Gothic"/>
              </a:rPr>
              <a:t>S1(i, q) = [ D(q+δ) - D(q-δ) ] / 2δ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독립 가정 → 제곱합의 제곱근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62626"/>
                </a:solidFill>
                <a:latin typeface="Consolas"/>
                <a:ea typeface="Malgun Gothic"/>
              </a:rPr>
              <a:t>σ_local² = Σ_i ( S1(i,q) · σ_mm(i) )²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Malgun Gothic"/>
                <a:ea typeface="Malgun Gothic"/>
              </a:rPr>
              <a:t>Liberty  ocv_sigma_cell_rise / ocv_sigma_cell_fall 에 수록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7064" y="1207008"/>
            <a:ext cx="5413248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</a:rPr>
              <a:t>재사용 — TR별 기여도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6227064" y="1591056"/>
            <a:ext cx="5413248" cy="1810512"/>
          </a:xfrm>
          <a:prstGeom prst="rect">
            <a:avLst/>
          </a:prstGeom>
          <a:solidFill>
            <a:srgbClr val="E4EA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동일한 S1(i, q)을 절대값 정규화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62626"/>
                </a:solidFill>
                <a:latin typeface="Consolas"/>
                <a:ea typeface="Malgun Gothic"/>
              </a:rPr>
              <a:t>C(i ; s,l) = |S1(i)| / Σ_j |S1(j)|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부호를 유지하면 오차가 더 작다 (ρ ≥ 0.5 그룹에 한함)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62626"/>
                </a:solidFill>
                <a:latin typeface="Consolas"/>
                <a:ea typeface="Malgun Gothic"/>
              </a:rPr>
              <a:t>C(i) = S1(i) / Σ_j S1(j)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Malgun Gothic"/>
                <a:ea typeface="Malgun Gothic"/>
              </a:rPr>
              <a:t>slew × load 격자, 타이밍 값 종류(지연 / 천이)마다 표면으로 저장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3639312"/>
            <a:ext cx="1121054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62626"/>
                </a:solidFill>
                <a:latin typeface="Malgun Gothic"/>
                <a:ea typeface="Malgun Gothic"/>
              </a:rPr>
              <a:t>NAND2_X1  A→ZN 하강 아크의 기여도 (slew × load 3×3 격자 평균, ngspice 42)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" y="3968496"/>
          <a:ext cx="11210544" cy="14996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94560"/>
                <a:gridCol w="2286000"/>
                <a:gridCol w="2286000"/>
                <a:gridCol w="2221992"/>
                <a:gridCol w="2221992"/>
              </a:tblGrid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파라미터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M1  (N, A 스위칭)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M2  (N, B 고정)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M3  (P)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M4  (P)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C(i),  vth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0.827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0.165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0.008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0.000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C(i),  u0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0.594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0.381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0.025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0.000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93776" y="5559552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적층 구조에서는 스위칭 TR이 기여도를 지배한다. 파라미터별로 값이 달라, vth와 u0의 기여도가 0.23 차이난다.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따라서 파라미터 독립 기여도를 쓰려면 임계값 판정(테이블 평균 |C_vth − C_u0| ≤ 0.1)을 거쳐야 한다.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algun Gothic"/>
                <a:ea typeface="Malgun Gothic"/>
              </a:rPr>
              <a:t>같은 아크라도 지연과 출력 천이의 기여도는 다르다 (M1 vth: 지연 0.834, 천이 0.546). 타이밍 값 종류별로 따로 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9260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3864"/>
                </a:solidFill>
                <a:latin typeface="Malgun Gothic"/>
                <a:ea typeface="Malgun Gothic"/>
              </a:rPr>
              <a:t>집합 변화량에 기여도를 곱하면 TR별 몫이 나온다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4980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algun Gothic"/>
                <a:ea typeface="Malgun Gothic"/>
              </a:rPr>
              <a:t>USM은 셀 전체를 함께 흔든 결과라 TR 식별 정보가 없다. 기여도가 각 TR이 global variation에서 차지하는 몫을 결정한다.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" y="1207008"/>
            <a:ext cx="5394960" cy="38404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</a:rPr>
              <a:t>USM 라이브러리 구조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" y="1591056"/>
            <a:ext cx="5394960" cy="1883664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100"/>
              </a:spcAft>
            </a:pPr>
            <a:r>
              <a:rPr sz="1050" b="0">
                <a:solidFill>
                  <a:srgbClr val="262626"/>
                </a:solidFill>
                <a:latin typeface="Consolas"/>
                <a:ea typeface="Malgun Gothic"/>
              </a:rPr>
              <a:t>sensitivity (usm_vth) {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62626"/>
                </a:solidFill>
                <a:latin typeface="Consolas"/>
                <a:ea typeface="Malgun Gothic"/>
              </a:rPr>
              <a:t>  device_param         : delta_vth ;</a:t>
            </a:r>
          </a:p>
          <a:p>
            <a:pPr algn="l">
              <a:spcAft>
                <a:spcPts val="100"/>
              </a:spcAft>
            </a:pPr>
            <a:r>
              <a:rPr sz="1050" b="1">
                <a:solidFill>
                  <a:srgbClr val="1F3864"/>
                </a:solidFill>
                <a:latin typeface="Consolas"/>
                <a:ea typeface="Malgun Gothic"/>
              </a:rPr>
              <a:t>  contributing_devices : all ;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62626"/>
                </a:solidFill>
                <a:latin typeface="Consolas"/>
                <a:ea typeface="Malgun Gothic"/>
              </a:rPr>
              <a:t>  sens_cell_fall (tmpl) { values(...) }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62626"/>
                </a:solidFill>
                <a:latin typeface="Consolas"/>
                <a:ea typeface="Malgun Gothic"/>
              </a:rPr>
              <a:t>}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Malgun Gothic"/>
                <a:ea typeface="Malgun Gothic"/>
              </a:rPr>
              <a:t>contributing_devices : all → 어느 TR의 민감도인지 알 수 없다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1207008"/>
            <a:ext cx="868680" cy="73152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0" y="1207008"/>
            <a:ext cx="4663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USM 값 S_agg(p)는 셀 전체의 합이다. 어느 TR이 얼마를 차지하는지가 라이브러리에 없다.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2029968"/>
            <a:ext cx="868680" cy="7315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예측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0" y="2029968"/>
            <a:ext cx="4663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S(i, p) = C(i ; s,l) · S_agg(p ; s,l)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2852928"/>
            <a:ext cx="868680" cy="7315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정합성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2852928"/>
            <a:ext cx="4663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모든 TR에 동일한 Δp 인가 시   Σ_i C(i)·S_agg(p)·Δp = S_agg(p)·Δp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" y="3767328"/>
            <a:ext cx="1121054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62626"/>
                </a:solidFill>
                <a:latin typeface="Malgun Gothic"/>
                <a:ea typeface="Malgun Gothic"/>
              </a:rPr>
              <a:t>예측 정확도 — 그룹 동시 섭동으로 얻은 직접 민감도 대비 (3σ, 지연 대비 %)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93776" y="4096512"/>
          <a:ext cx="11210544" cy="14996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108960"/>
                <a:gridCol w="2651760"/>
                <a:gridCol w="2743200"/>
                <a:gridCol w="2706624"/>
              </a:tblGrid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기여도 정의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NAND2 최대 오차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NOR2 최대 오차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부호 유지  C(i) = S1(i)/ΣS1(j)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0.005 %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0.060 %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ρ ≥ 0.5 그룹 (구동 그룹 전부)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부호 없음  C(i) = |S1(i)|/Σ|S1(j)|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0.535 %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0.542 %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ρ &lt; 0.5 그룹 (비구동, 상쇄)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93776" y="5724144"/>
            <a:ext cx="1121054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모든 TR을 같은 양으로 움직이면 집합값이 그대로 복구되므로, 예측된 TR별 몫은 서로 모순되지 않는다.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algun Gothic"/>
                <a:ea typeface="Malgun Gothic"/>
              </a:rPr>
              <a:t>부호 합이 상쇄되는 그룹(ρ = |ΣS1| / Σ|S1| &lt; 0.5)에서는 부호 유지 기여도가 발산한다 (예제: 비구동 33/351, 구동 0/360).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9260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3864"/>
                </a:solidFill>
                <a:latin typeface="Malgun Gothic"/>
                <a:ea typeface="Malgun Gothic"/>
              </a:rPr>
              <a:t>내부 TR까지 반영해야 오차가 닫힌다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4980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algun Gothic"/>
                <a:ea typeface="Malgun Gothic"/>
              </a:rPr>
              <a:t>LLE DM이 내부 TR의 Δp를 주더라도, 대응하는 TR별 민감도가 없으면 STA에 전달할 수 없다.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3776" y="118872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62626"/>
                </a:solidFill>
                <a:latin typeface="Malgun Gothic"/>
                <a:ea typeface="Malgun Gothic"/>
              </a:rPr>
              <a:t>셀 내 트랜지스터 위치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7904"/>
            <a:ext cx="3977639" cy="228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591056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algun Gothic"/>
                <a:ea typeface="Malgun Gothic"/>
              </a:rPr>
              <a:t>셀 경계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39696"/>
            <a:ext cx="658368" cy="1005840"/>
          </a:xfrm>
          <a:prstGeom prst="rect">
            <a:avLst/>
          </a:prstGeom>
          <a:solidFill>
            <a:srgbClr val="D9D9D9"/>
          </a:solidFill>
          <a:ln w="1270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262626"/>
                </a:solidFill>
                <a:latin typeface="Malgun Gothic"/>
                <a:ea typeface="Malgun Gothic"/>
              </a:rPr>
              <a:t>TR1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5" y="3200400"/>
            <a:ext cx="76809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algun Gothic"/>
                <a:ea typeface="Malgun Gothic"/>
              </a:rPr>
              <a:t>경계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2139696"/>
            <a:ext cx="6583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262626"/>
                </a:solidFill>
                <a:latin typeface="Malgun Gothic"/>
                <a:ea typeface="Malgun Gothic"/>
              </a:rPr>
              <a:t>TR2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3200400"/>
            <a:ext cx="76809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algun Gothic"/>
                <a:ea typeface="Malgun Gothic"/>
              </a:rPr>
              <a:t>내부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2139696"/>
            <a:ext cx="6583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262626"/>
                </a:solidFill>
                <a:latin typeface="Malgun Gothic"/>
                <a:ea typeface="Malgun Gothic"/>
              </a:rPr>
              <a:t>TR3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9736" y="3200400"/>
            <a:ext cx="76809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algun Gothic"/>
                <a:ea typeface="Malgun Gothic"/>
              </a:rPr>
              <a:t>내부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67328" y="2139696"/>
            <a:ext cx="658368" cy="1005840"/>
          </a:xfrm>
          <a:prstGeom prst="rect">
            <a:avLst/>
          </a:prstGeom>
          <a:solidFill>
            <a:srgbClr val="D9D9D9"/>
          </a:solidFill>
          <a:ln w="1270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262626"/>
                </a:solidFill>
                <a:latin typeface="Malgun Gothic"/>
                <a:ea typeface="Malgun Gothic"/>
              </a:rPr>
              <a:t>TR4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3200400"/>
            <a:ext cx="76809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algun Gothic"/>
                <a:ea typeface="Malgun Gothic"/>
              </a:rPr>
              <a:t>경계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13632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  <a:latin typeface="Malgun Gothic"/>
                <a:ea typeface="Malgun Gothic"/>
              </a:rPr>
              <a:t>음영 = 경계 TR. 종래 방식의 보정 대상은 여기까지다.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892040" y="1517904"/>
          <a:ext cx="7086599" cy="31821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74519"/>
                <a:gridCol w="2606040"/>
                <a:gridCol w="2606040"/>
              </a:tblGrid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종래 (경계 TR 직접 특성화)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본 발명 (기여도 × USM)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보정 대상 TR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경계 TR만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경계 + 내부 전체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민감도 획득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TR별 직접 특성화 시뮬레이션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기여도로 TR별 몫을 예측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추가 특성화 비용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TR 수 × 파라미터 수 × 테이블 포인트 수에 비례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없음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내부 TR 변동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미반영, 오차 잔존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반영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93776" y="4754880"/>
            <a:ext cx="112105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62626"/>
                </a:solidFill>
                <a:latin typeface="Malgun Gothic"/>
                <a:ea typeface="Malgun Gothic"/>
              </a:rPr>
              <a:t>내부 TR도 주변 레이아웃, 응력, 경년 열화로 파라미터가 변동한다.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Malgun Gothic"/>
                <a:ea typeface="Malgun Gothic"/>
              </a:rPr>
              <a:t>기여도는 특성화 단계에서 셀 내 모든 TR에 대해 이미 산출되어 있으므로, 확장에 추가 비용이 들지 않는다.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9260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3864"/>
                </a:solidFill>
                <a:latin typeface="Malgun Gothic"/>
                <a:ea typeface="Malgun Gothic"/>
              </a:rPr>
              <a:t>변동 원인이 늘어도 특성화는 늘지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4980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algun Gothic"/>
                <a:ea typeface="Malgun Gothic"/>
              </a:rPr>
              <a:t>기여도와 집합 민감도는 고정하고 Δp(i, p)만 교체한다. 변동 원인마다 라이브러리를 다시 만들지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" y="1188720"/>
            <a:ext cx="11210544" cy="868680"/>
          </a:xfrm>
          <a:prstGeom prst="rect">
            <a:avLst/>
          </a:prstGeom>
          <a:solidFill>
            <a:srgbClr val="E4EA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3864"/>
                </a:solidFill>
                <a:latin typeface="Consolas"/>
                <a:ea typeface="Malgun Gothic"/>
              </a:rPr>
              <a:t>ΔD_arc = Σ_i Σ_p  C(i ; s,l) · S_agg(p ; s,l) · Δp(i, p)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Consolas"/>
                <a:ea typeface="Malgun Gothic"/>
              </a:rPr>
              <a:t>D_corrected = D_base + ΔD_arc          (인스턴스별 보정, 또는 라이브러리 테이블 갱신)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93776" y="2340864"/>
          <a:ext cx="11210544" cy="2194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017520"/>
                <a:gridCol w="5029200"/>
                <a:gridCol w="1737360"/>
                <a:gridCol w="1426464"/>
              </a:tblGrid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변동 원인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Δp(i, p) 공급원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Δp 분포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추가 특성화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국부 레이아웃 효과 (LLE)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레이아웃 추출, 경계 + 내부 TR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TR마다 다름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없음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경년 열화 (aging, BTI)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열화 모델  ΔVth(t), 스트레스 이력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TR마다 다름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없음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응력 / WPE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레이아웃 컨텍스트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TR마다 다름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없음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전역 파라미터 이동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전역 변동점 정의  ΔVth, ΔU0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모든 TR 공통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없음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93776" y="4626864"/>
            <a:ext cx="1121054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62626"/>
                </a:solidFill>
                <a:latin typeface="Malgun Gothic"/>
                <a:ea typeface="Malgun Gothic"/>
              </a:rPr>
              <a:t>검증 — ngspice 42, 3 cell × 10 arc × 9 point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93776" y="4956048"/>
          <a:ext cx="11210544" cy="175564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120640"/>
                <a:gridCol w="3108960"/>
                <a:gridCol w="2980944"/>
              </a:tblGrid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검증 항목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1차 합산 vs 그룹 동시 섭동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3σ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차이 최대 0.07 % of delay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교차항 크기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2-stack, 3σ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0.4 % 이하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logquad 모델 값 오차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±3σ 복합 변동점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평균 0.3 %, 최대 1.7 %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algun Gothic"/>
        <a:ea typeface="Malgun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algun Gothic"/>
        <a:ea typeface="Malgun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