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4단계 전체 흐름. Step 1~2는 모델 생성, Step 3은 변동량 공급, Step 4는 결합.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상세. 기존 LVF 용도와 재사용 경로의 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상세. contributing_devices : all 의 한계와 복원식, 정합성 조건.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상세. 경계 TR 한정 종래 방식과의 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상세. 통합식, 변동 원인별 Δp 공급원, 검증 수치.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9260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Malgun Gothic"/>
                <a:ea typeface="Malgun Gothic"/>
              </a:rPr>
              <a:t>TR 기여도 × USM 결합으로 재특성화 없이 변동 반영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9808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algun Gothic"/>
                <a:ea typeface="Malgun Gothic"/>
              </a:rPr>
              <a:t>LVF 특성화 결과를 재사용하여 트랜지스터별 민감도를 복원하고, 모든 변동 원인을 하나의 식으로 처리한다.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" y="1243584"/>
            <a:ext cx="2514600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STEP 1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TR별 기여도 생성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883664"/>
            <a:ext cx="2514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입력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LVF 특성화의 TR별 섭동 민감도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S1(i, q)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2834640"/>
            <a:ext cx="2514600" cy="950976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처리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Consolas"/>
                <a:ea typeface="Malgun Gothic"/>
              </a:rPr>
              <a:t>C(i) = |S1(i)| / Σ_j |S1(j)|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3785616"/>
            <a:ext cx="2514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출력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기여도 표면  C(i ; slew, load)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Σ_i C(i) = 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35808" y="3310128"/>
            <a:ext cx="329184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92424" y="1243584"/>
            <a:ext cx="2514600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STEP 2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TR별 민감도 복원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2424" y="1883664"/>
            <a:ext cx="2514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입력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USM 라이브러리의 집합 민감도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S_agg(p)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2834640"/>
            <a:ext cx="2514600" cy="950976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처리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Consolas"/>
                <a:ea typeface="Malgun Gothic"/>
              </a:rPr>
              <a:t>S_rec(i, p) = C(i) · S_agg(p)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2424" y="3785616"/>
            <a:ext cx="2514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출력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TR별 파라미터 민감도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전역 변동 예측에 사용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34456" y="3310128"/>
            <a:ext cx="329184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91072" y="1243584"/>
            <a:ext cx="2514600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STEP 3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내부 TR 변동량 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883664"/>
            <a:ext cx="2514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입력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LLE DM 레이아웃 추출 결과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(경계 TR + 내부 TR)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2834640"/>
            <a:ext cx="2514600" cy="950976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처리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Consolas"/>
                <a:ea typeface="Malgun Gothic"/>
              </a:rPr>
              <a:t>TR 위치별 Δp(i) 산출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3785616"/>
            <a:ext cx="2514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출력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인스턴스·TR별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ΔVth(i), ΔU0(i)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33103" y="3310128"/>
            <a:ext cx="329185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89720" y="1243584"/>
            <a:ext cx="2514600" cy="6035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STEP 4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USM + LLE 통합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883664"/>
            <a:ext cx="2514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입력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C(i),  S_agg(p),  Δp(i, 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834640"/>
            <a:ext cx="2514600" cy="950976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처리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Consolas"/>
                <a:ea typeface="Malgun Gothic"/>
              </a:rPr>
              <a:t>ΔD = Σ_i Σ_p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Consolas"/>
                <a:ea typeface="Malgun Gothic"/>
              </a:rPr>
              <a:t>C(i)·S_agg(p)·Δp(i,p)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3785616"/>
            <a:ext cx="2514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95959"/>
                </a:solidFill>
                <a:latin typeface="Malgun Gothic"/>
                <a:ea typeface="Malgun Gothic"/>
              </a:rPr>
              <a:t>출력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전역·LLE·열화를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하나의 식으로 처리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5047488"/>
            <a:ext cx="11210544" cy="1005840"/>
          </a:xfrm>
          <a:prstGeom prst="rect">
            <a:avLst/>
          </a:prstGeom>
          <a:solidFill>
            <a:srgbClr val="E4EA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>
            <a:no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Consolas"/>
                <a:ea typeface="Malgun Gothic"/>
              </a:rPr>
              <a:t>결합 결과      ΔD_arc = Σ_i Σ_p  C(i ; s,l) · S_agg(p ; s,l) · Δp(i, p)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Malgun Gothic"/>
                <a:ea typeface="Malgun Gothic"/>
              </a:rPr>
              <a:t>개별 TR 특성화 시뮬레이션 추가 없음. 새로운 변동 원인은 Δp(i, p)만 교체하면 동일 경로로 처리된다.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6254496"/>
            <a:ext cx="112105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algun Gothic"/>
                <a:ea typeface="Malgun Gothic"/>
              </a:rPr>
              <a:t>종래: 경계 TR을 트랜지스터별로 직접 특성화. 비용이 셀당 TR 수 × 파라미터 수 × 테이블 포인트 수에 비례한다.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9260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Malgun Gothic"/>
                <a:ea typeface="Malgun Gothic"/>
              </a:rPr>
              <a:t>LVF 특성화 결과에 TR별 민감도가 이미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9808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algun Gothic"/>
                <a:ea typeface="Malgun Gothic"/>
              </a:rPr>
              <a:t>국부 변동 σ 산출에 사용한 S1(i, q)을 정규화만 하면 기여도가 된다. 추가 시뮬레이션은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" y="1207008"/>
            <a:ext cx="5413248" cy="38404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기존 용도 — 국부 변동 통계량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591056"/>
            <a:ext cx="54132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TR별 ±δ 섭동으로 중앙 차분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62626"/>
                </a:solidFill>
                <a:latin typeface="Consolas"/>
                <a:ea typeface="Malgun Gothic"/>
              </a:rPr>
              <a:t>S1(i, q) = [ D(q+δ) - D(q-δ) ] / 2δ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독립 가정 → 제곱합의 제곱근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62626"/>
                </a:solidFill>
                <a:latin typeface="Consolas"/>
                <a:ea typeface="Malgun Gothic"/>
              </a:rPr>
              <a:t>σ_local² = Σ_i ( S1(i,q) · σ_mm(i) )²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Malgun Gothic"/>
                <a:ea typeface="Malgun Gothic"/>
              </a:rPr>
              <a:t>Liberty  ocv_sigma_cell_rise / ocv_sigma_cell_fall 에 수록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7064" y="1207008"/>
            <a:ext cx="5413248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재사용 — TR별 기여도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7064" y="1591056"/>
            <a:ext cx="5413248" cy="1810512"/>
          </a:xfrm>
          <a:prstGeom prst="rect">
            <a:avLst/>
          </a:prstGeom>
          <a:solidFill>
            <a:srgbClr val="E4EA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동일한 S1(i, q)을 절대값 정규화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62626"/>
                </a:solidFill>
                <a:latin typeface="Consolas"/>
                <a:ea typeface="Malgun Gothic"/>
              </a:rPr>
              <a:t>C(i ; s,l) = |S1(i)| / Σ_j |S1(j)|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부호를 유지하면 복원 오차가 더 작다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62626"/>
                </a:solidFill>
                <a:latin typeface="Consolas"/>
                <a:ea typeface="Malgun Gothic"/>
              </a:rPr>
              <a:t>C(i) = S1(i) / Σ_j S1(j)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Malgun Gothic"/>
                <a:ea typeface="Malgun Gothic"/>
              </a:rPr>
              <a:t>slew × load 격자마다 표면으로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3639312"/>
            <a:ext cx="112105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62626"/>
                </a:solidFill>
                <a:latin typeface="Malgun Gothic"/>
                <a:ea typeface="Malgun Gothic"/>
              </a:rPr>
              <a:t>NAND2_X1  A→ZN 하강 아크의 기여도 (slew × load 3×3 격자 평균, ngspice 42)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3968496"/>
          <a:ext cx="11210544" cy="1499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2286000"/>
                <a:gridCol w="2286000"/>
                <a:gridCol w="2221992"/>
                <a:gridCol w="2221992"/>
              </a:tblGrid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파라미터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M1  (N, A 스위칭)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M2  (N, B 고정)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M3  (P)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M4  (P)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C(i),  vth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0.827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0.165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0.008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C(i),  u0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0.594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0.381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0.025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" y="5596128"/>
            <a:ext cx="1121054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적층 구조에서는 스위칭 TR이 기여도를 지배한다. 파라미터별로 값이 달라, vth와 u0의 기여도가 0.23 차이난다.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algun Gothic"/>
                <a:ea typeface="Malgun Gothic"/>
              </a:rPr>
              <a:t>따라서 파라미터 독립 기여도를 쓰려면 임계값 판정을 거쳐야 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9260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Malgun Gothic"/>
                <a:ea typeface="Malgun Gothic"/>
              </a:rPr>
              <a:t>USM에 기여도를 곱하면 TR별로 분해된다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9808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algun Gothic"/>
                <a:ea typeface="Malgun Gothic"/>
              </a:rPr>
              <a:t>USM 민감도는 셀 전체를 동시에 섭동한 값이라 TR 식별 정보가 없다. 기여도가 그 정보를 보완한다.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" y="1207008"/>
            <a:ext cx="5394960" cy="38404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USM 라이브러리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591056"/>
            <a:ext cx="5394960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262626"/>
                </a:solidFill>
                <a:latin typeface="Consolas"/>
                <a:ea typeface="Malgun Gothic"/>
              </a:rPr>
              <a:t>sensitivity (usm_vth) {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62626"/>
                </a:solidFill>
                <a:latin typeface="Consolas"/>
                <a:ea typeface="Malgun Gothic"/>
              </a:rPr>
              <a:t>  device_param         : delta_vth ;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1F3864"/>
                </a:solidFill>
                <a:latin typeface="Consolas"/>
                <a:ea typeface="Malgun Gothic"/>
              </a:rPr>
              <a:t>  contributing_devices : all ;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62626"/>
                </a:solidFill>
                <a:latin typeface="Consolas"/>
                <a:ea typeface="Malgun Gothic"/>
              </a:rPr>
              <a:t>  sens_cell_fall (tmpl) { values(...) }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62626"/>
                </a:solidFill>
                <a:latin typeface="Consolas"/>
                <a:ea typeface="Malgun Gothic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Malgun Gothic"/>
                <a:ea typeface="Malgun Gothic"/>
              </a:rPr>
              <a:t>contributing_devices : all → 어느 TR의 민감도인지 알 수 없다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207008"/>
            <a:ext cx="868680" cy="7315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207008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USM 민감도 S_agg(p)는 셀 전체의 합이다. 트랜지스터별로 나눌 근거가 라이브러리 안에 없다.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029968"/>
            <a:ext cx="86868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해결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2029968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62626"/>
                </a:solidFill>
                <a:latin typeface="Consolas"/>
                <a:ea typeface="Malgun Gothic"/>
              </a:rPr>
              <a:t>S_rec(i, p) = C(i ; s,l) · S_agg(p ; s,l)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852928"/>
            <a:ext cx="86868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정합성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2852928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62626"/>
                </a:solidFill>
                <a:latin typeface="Consolas"/>
                <a:ea typeface="Malgun Gothic"/>
              </a:rPr>
              <a:t>모든 TR에 동일한 Δp 인가 시   Σ_i C(i)·S_agg(p)·Δp = S_agg(p)·Δp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3767328"/>
            <a:ext cx="112105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62626"/>
                </a:solidFill>
                <a:latin typeface="Malgun Gothic"/>
                <a:ea typeface="Malgun Gothic"/>
              </a:rPr>
              <a:t>복원 정확도 — 그룹 동시 섭동으로 얻은 직접 민감도 대비 (3σ, 지연 대비 %)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93776" y="4096512"/>
          <a:ext cx="11210544" cy="1499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2651760"/>
                <a:gridCol w="2743200"/>
                <a:gridCol w="2706624"/>
              </a:tblGrid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기여도 정의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NAND2 최대 오차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NOR2 최대 오차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판정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부호 유지  C(i) = S1(i)/ΣS1(j)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0.005 %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0.060 %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권장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부호 없음  C(i) = |S1(i)|/Σ|S1(j)|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0.535 %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0.542 %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조건부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93776" y="5724144"/>
            <a:ext cx="1121054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>정합성 조건을 만족하므로, 동시 변동 시 타이밍 변화량이 개별 TR 변화량의 합과 일치한다.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algun Gothic"/>
                <a:ea typeface="Malgun Gothic"/>
              </a:rPr>
              <a:t>1차 항 기준 그룹 동시 섭동과의 차이는 지연 대비 최대 0.07 % (3σ).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9260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Malgun Gothic"/>
                <a:ea typeface="Malgun Gothic"/>
              </a:rPr>
              <a:t>내부 TR까지 반영해야 오차가 닫힌다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9808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algun Gothic"/>
                <a:ea typeface="Malgun Gothic"/>
              </a:rPr>
              <a:t>LLE DM이 내부 TR의 Δp를 주더라도, 대응하는 TR별 민감도가 없으면 STA에 전달할 수 없다.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188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62626"/>
                </a:solidFill>
                <a:latin typeface="Malgun Gothic"/>
                <a:ea typeface="Malgun Gothic"/>
              </a:rPr>
              <a:t>셀 내 트랜지스터 위치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7904"/>
            <a:ext cx="3977639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9105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algun Gothic"/>
                <a:ea typeface="Malgun Gothic"/>
              </a:rPr>
              <a:t>셀 경계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39696"/>
            <a:ext cx="658368" cy="1005840"/>
          </a:xfrm>
          <a:prstGeom prst="rect">
            <a:avLst/>
          </a:prstGeom>
          <a:solidFill>
            <a:srgbClr val="D9D9D9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262626"/>
                </a:solidFill>
                <a:latin typeface="Malgun Gothic"/>
                <a:ea typeface="Malgun Gothic"/>
              </a:rPr>
              <a:t>TR1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" y="3200400"/>
            <a:ext cx="7680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algun Gothic"/>
                <a:ea typeface="Malgun Gothic"/>
              </a:rPr>
              <a:t>경계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139696"/>
            <a:ext cx="6583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262626"/>
                </a:solidFill>
                <a:latin typeface="Malgun Gothic"/>
                <a:ea typeface="Malgun Gothic"/>
              </a:rPr>
              <a:t>TR2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3200400"/>
            <a:ext cx="7680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algun Gothic"/>
                <a:ea typeface="Malgun Gothic"/>
              </a:rPr>
              <a:t>내부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139696"/>
            <a:ext cx="6583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262626"/>
                </a:solidFill>
                <a:latin typeface="Malgun Gothic"/>
                <a:ea typeface="Malgun Gothic"/>
              </a:rPr>
              <a:t>TR3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3200400"/>
            <a:ext cx="7680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algun Gothic"/>
                <a:ea typeface="Malgun Gothic"/>
              </a:rPr>
              <a:t>내부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7328" y="2139696"/>
            <a:ext cx="658368" cy="1005840"/>
          </a:xfrm>
          <a:prstGeom prst="rect">
            <a:avLst/>
          </a:prstGeom>
          <a:solidFill>
            <a:srgbClr val="D9D9D9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262626"/>
                </a:solidFill>
                <a:latin typeface="Malgun Gothic"/>
                <a:ea typeface="Malgun Gothic"/>
              </a:rPr>
              <a:t>TR4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200400"/>
            <a:ext cx="7680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algun Gothic"/>
                <a:ea typeface="Malgun Gothic"/>
              </a:rPr>
              <a:t>경계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136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Malgun Gothic"/>
                <a:ea typeface="Malgun Gothic"/>
              </a:rPr>
              <a:t>음영 = 경계 TR. 종래 방식의 보정 대상은 여기까지다.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892040" y="1517904"/>
          <a:ext cx="7086599" cy="31821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74519"/>
                <a:gridCol w="2606040"/>
                <a:gridCol w="2606040"/>
              </a:tblGrid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종래 (경계 TR 직접 특성화)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본 발명 (기여도 × USM)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보정 대상 TR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경계 TR만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경계 + 내부 전체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민감도 획득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TR별 직접 특성화 시뮬레이션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기여도 × 집합 민감도로 복원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추가 특성화 비용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TR 수 × 파라미터 수 × 테이블 포인트 수에 비례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내부 TR 변동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미반영, 오차 잔존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반영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93776" y="4754880"/>
            <a:ext cx="1121054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Malgun Gothic"/>
                <a:ea typeface="Malgun Gothic"/>
              </a:rPr>
              <a:t>내부 TR도 주변 레이아웃, 응력, 경년 열화로 파라미터가 변동한다.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Malgun Gothic"/>
                <a:ea typeface="Malgun Gothic"/>
              </a:rPr>
              <a:t>기여도는 특성화 단계에서 셀 내 모든 TR에 대해 이미 산출되어 있으므로, 확장에 추가 비용이 들지 않는다.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9260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Malgun Gothic"/>
                <a:ea typeface="Malgun Gothic"/>
              </a:rPr>
              <a:t>변동 원인이 늘어도 특성화는 늘지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9808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algun Gothic"/>
                <a:ea typeface="Malgun Gothic"/>
              </a:rPr>
              <a:t>기여도와 집합 민감도는 고정하고 Δp(i, p)만 교체한다. 변동 원인마다 라이브러리를 다시 만들지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" y="1188720"/>
            <a:ext cx="11210544" cy="868680"/>
          </a:xfrm>
          <a:prstGeom prst="rect">
            <a:avLst/>
          </a:prstGeom>
          <a:solidFill>
            <a:srgbClr val="E4EA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Consolas"/>
                <a:ea typeface="Malgun Gothic"/>
              </a:rPr>
              <a:t>ΔD_arc = Σ_i Σ_p  C(i ; s,l) · S_agg(p ; s,l) · Δp(i, p)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Consolas"/>
                <a:ea typeface="Malgun Gothic"/>
              </a:rPr>
              <a:t>D_corrected = D_base + ΔD_arc          (인스턴스별 보정, 또는 라이브러리 테이블 갱신)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3776" y="2340864"/>
          <a:ext cx="11210544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17520"/>
                <a:gridCol w="5029200"/>
                <a:gridCol w="1737360"/>
                <a:gridCol w="1426464"/>
              </a:tblGrid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변동 원인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Δp(i, p) 공급원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추가 특성화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기여도 재사용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국부 레이아웃 효과 (LLE)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레이아웃 추출, 경계 + 내부 TR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그대로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전역 공정 변동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공정 코너 정의  ΔVth, ΔU0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그대로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경년 열화 (BTI)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열화 모델  ΔVth(t)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그대로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응력 / WPE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레이아웃 컨텍스트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그대로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3776" y="4626864"/>
            <a:ext cx="112105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62626"/>
                </a:solidFill>
                <a:latin typeface="Malgun Gothic"/>
                <a:ea typeface="Malgun Gothic"/>
              </a:rPr>
              <a:t>검증 — ngspice 42, 3 cell × 10 arc × 9 point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3776" y="4956048"/>
          <a:ext cx="11210544" cy="17556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20640"/>
                <a:gridCol w="3108960"/>
                <a:gridCol w="2980944"/>
              </a:tblGrid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검증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조건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1차 합산 vs 그룹 동시 섭동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3σ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차이 최대 0.07 % of delay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교차항 크기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2-stack, 3σ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0.4 % 이하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logquad 모델 값 오차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±3σ 복합 코너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</a:rPr>
                        <a:t>평균 0.3 %, 최대 1.7 %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08080"/>
                      </a:solidFill>
                      <a:prstDash val="soli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